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Lst>
  <p:sldSz cx="9144000" cy="5143500" type="screen16x9"/>
  <p:notesSz cx="6858000" cy="9144000"/>
  <p:embeddedFontLst>
    <p:embeddedFont>
      <p:font typeface="Poppins" panose="00000500000000000000"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7fa3dcd40f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7fa3dcd40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7fa3dcd40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7fa3dcd40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7fa3dcd40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7fa3dcd40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7fa3dcd4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7fa3dcd4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7fa3dcd40f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7fa3dcd40f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7fa3dcd40f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7fa3dcd40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7fa3dcd40f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7fa3dcd40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7fa3dcd40f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7fa3dcd40f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7fa3dcd40f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7fa3dcd40f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7fa3dcd40f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7fa3dcd40f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7fa3dcd40f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7fa3dcd40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56" name="Google Shape;56;p13" title="AMD.PS.S11.png"/>
          <p:cNvPicPr preferRelativeResize="0"/>
          <p:nvPr/>
        </p:nvPicPr>
        <p:blipFill>
          <a:blip r:embed="rId3">
            <a:alphaModFix/>
          </a:blip>
          <a:stretch>
            <a:fillRect/>
          </a:stretch>
        </p:blipFill>
        <p:spPr>
          <a:xfrm>
            <a:off x="0" y="0"/>
            <a:ext cx="9144000" cy="5143500"/>
          </a:xfrm>
          <a:prstGeom prst="rect">
            <a:avLst/>
          </a:prstGeom>
          <a:noFill/>
          <a:ln>
            <a:noFill/>
          </a:ln>
        </p:spPr>
      </p:pic>
      <p:sp>
        <p:nvSpPr>
          <p:cNvPr id="57" name="Google Shape;57;p13"/>
          <p:cNvSpPr txBox="1"/>
          <p:nvPr/>
        </p:nvSpPr>
        <p:spPr>
          <a:xfrm>
            <a:off x="179825" y="3316325"/>
            <a:ext cx="3000000" cy="461700"/>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0"/>
              </a:spcBef>
              <a:spcAft>
                <a:spcPts val="0"/>
              </a:spcAft>
              <a:buNone/>
            </a:pPr>
            <a:r>
              <a:rPr lang="en-GB" sz="1800" b="1">
                <a:solidFill>
                  <a:schemeClr val="dk1"/>
                </a:solidFill>
                <a:latin typeface="Poppins"/>
                <a:ea typeface="Poppins"/>
                <a:cs typeface="Poppins"/>
                <a:sym typeface="Poppins"/>
              </a:rPr>
              <a:t>Team Details</a:t>
            </a:r>
            <a:endParaRPr sz="1800">
              <a:latin typeface="Poppins"/>
              <a:ea typeface="Poppins"/>
              <a:cs typeface="Poppins"/>
              <a:sym typeface="Poppins"/>
            </a:endParaRPr>
          </a:p>
        </p:txBody>
      </p:sp>
      <p:sp>
        <p:nvSpPr>
          <p:cNvPr id="58" name="Google Shape;58;p13"/>
          <p:cNvSpPr txBox="1"/>
          <p:nvPr/>
        </p:nvSpPr>
        <p:spPr>
          <a:xfrm>
            <a:off x="540824" y="3707431"/>
            <a:ext cx="8365283" cy="1423436"/>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1"/>
              </a:buClr>
              <a:buSzPts val="1400"/>
              <a:buFont typeface="Poppins"/>
              <a:buChar char="➔"/>
            </a:pPr>
            <a:r>
              <a:rPr lang="en-GB" dirty="0">
                <a:solidFill>
                  <a:schemeClr val="dk1"/>
                </a:solidFill>
                <a:latin typeface="Poppins"/>
                <a:ea typeface="Poppins"/>
                <a:cs typeface="Poppins"/>
                <a:sym typeface="Poppins"/>
              </a:rPr>
              <a:t>Team name - </a:t>
            </a:r>
            <a:r>
              <a:rPr lang="en-GB" dirty="0" err="1">
                <a:solidFill>
                  <a:schemeClr val="dk1"/>
                </a:solidFill>
                <a:latin typeface="Poppins"/>
                <a:ea typeface="Poppins"/>
                <a:cs typeface="Poppins"/>
                <a:sym typeface="Poppins"/>
              </a:rPr>
              <a:t>Cardionyx</a:t>
            </a:r>
            <a:endParaRPr dirty="0">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GB" dirty="0">
                <a:solidFill>
                  <a:schemeClr val="dk1"/>
                </a:solidFill>
                <a:latin typeface="Poppins"/>
                <a:ea typeface="Poppins"/>
                <a:cs typeface="Poppins"/>
                <a:sym typeface="Poppins"/>
              </a:rPr>
              <a:t>Team leader name – Bhavy Tyagi</a:t>
            </a:r>
            <a:endParaRPr dirty="0">
              <a:solidFill>
                <a:schemeClr val="dk1"/>
              </a:solidFill>
              <a:latin typeface="Poppins"/>
              <a:ea typeface="Poppins"/>
              <a:cs typeface="Poppins"/>
              <a:sym typeface="Poppins"/>
            </a:endParaRPr>
          </a:p>
          <a:p>
            <a:pPr marL="457200" indent="-317500">
              <a:lnSpc>
                <a:spcPct val="115000"/>
              </a:lnSpc>
              <a:buClr>
                <a:schemeClr val="dk1"/>
              </a:buClr>
              <a:buSzPts val="1400"/>
              <a:buFont typeface="Poppins"/>
              <a:buChar char="➔"/>
            </a:pPr>
            <a:r>
              <a:rPr lang="en-GB" dirty="0">
                <a:solidFill>
                  <a:schemeClr val="dk1"/>
                </a:solidFill>
                <a:latin typeface="Poppins"/>
                <a:ea typeface="Poppins"/>
                <a:cs typeface="Poppins"/>
                <a:sym typeface="Poppins"/>
              </a:rPr>
              <a:t>Problem Statement – </a:t>
            </a:r>
            <a:r>
              <a:rPr lang="en-US" dirty="0"/>
              <a:t>Sudden cardiac events can leave a person unable to call for help, and delayed assistance can be life-threatening. Existing wearables lack reliable emergency detection. This project develops a wearable ECG monitor that detects danger and alerts caregivers promptly.</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dirty="0">
                <a:latin typeface="Poppins"/>
                <a:ea typeface="Poppins"/>
                <a:cs typeface="Poppins"/>
                <a:sym typeface="Poppins"/>
              </a:rPr>
              <a:t>Brief about the idea</a:t>
            </a:r>
            <a:endParaRPr sz="1620" b="1" dirty="0">
              <a:latin typeface="Poppins"/>
              <a:ea typeface="Poppins"/>
              <a:cs typeface="Poppins"/>
              <a:sym typeface="Poppins"/>
            </a:endParaRPr>
          </a:p>
        </p:txBody>
      </p:sp>
      <p:sp>
        <p:nvSpPr>
          <p:cNvPr id="64" name="Google Shape;64;p14"/>
          <p:cNvSpPr txBox="1">
            <a:spLocks noGrp="1"/>
          </p:cNvSpPr>
          <p:nvPr>
            <p:ph type="subTitle" idx="1"/>
          </p:nvPr>
        </p:nvSpPr>
        <p:spPr>
          <a:xfrm>
            <a:off x="311700" y="1249775"/>
            <a:ext cx="8520600" cy="3525000"/>
          </a:xfrm>
          <a:prstGeom prst="rect">
            <a:avLst/>
          </a:prstGeom>
        </p:spPr>
        <p:txBody>
          <a:bodyPr spcFirstLastPara="1" wrap="square" lIns="91425" tIns="91425" rIns="91425" bIns="91425" anchor="t" anchorCtr="0">
            <a:normAutofit lnSpcReduction="10000"/>
          </a:bodyPr>
          <a:lstStyle/>
          <a:p>
            <a:pPr marL="0" lvl="0" indent="0" algn="l"/>
            <a:r>
              <a:rPr lang="en-US" sz="1300" dirty="0">
                <a:latin typeface="Poppins"/>
                <a:ea typeface="Poppins"/>
                <a:cs typeface="Poppins"/>
                <a:sym typeface="Poppins"/>
              </a:rPr>
              <a:t>This project presents a wearable cardiac safety monitoring system designed for continuous real-time supervision of individuals at risk of sudden cardiac events. The device uses a chest-mounted ECG sensor to capture the heart’s PQRST waveform and analyzes the electrical activity to identify abnormal rhythms or dangerous patterns. To improve reliability, the system also considers motion and oxygen-level data to distinguish between normal activity and a potential medical emergency.</a:t>
            </a:r>
          </a:p>
          <a:p>
            <a:pPr marL="0" lvl="0" indent="0" algn="l"/>
            <a:endParaRPr lang="en-US" sz="1300" dirty="0">
              <a:latin typeface="Poppins"/>
              <a:ea typeface="Poppins"/>
              <a:cs typeface="Poppins"/>
              <a:sym typeface="Poppins"/>
            </a:endParaRPr>
          </a:p>
          <a:p>
            <a:pPr marL="0" lvl="0" indent="0" algn="l"/>
            <a:r>
              <a:rPr lang="en-US" sz="1300" dirty="0">
                <a:latin typeface="Poppins"/>
                <a:ea typeface="Poppins"/>
                <a:cs typeface="Poppins"/>
                <a:sym typeface="Poppins"/>
              </a:rPr>
              <a:t>To enhance detection accuracy, the system integrates an AI-based software layer. ECG waveform data is processed using a deep learning model to identify key abnormalities such as T inversion, ST depression, ST elevation, Pathologic Q wave, Left ventricular hypertrophy, and Poor R progression. These detected features, along with structured ECG and physiological parameters, are evaluated using a machine learning model (</a:t>
            </a:r>
            <a:r>
              <a:rPr lang="en-US" sz="1300" dirty="0" err="1">
                <a:latin typeface="Poppins"/>
                <a:ea typeface="Poppins"/>
                <a:cs typeface="Poppins"/>
                <a:sym typeface="Poppins"/>
              </a:rPr>
              <a:t>XGBoost</a:t>
            </a:r>
            <a:r>
              <a:rPr lang="en-US" sz="1300" dirty="0">
                <a:latin typeface="Poppins"/>
                <a:ea typeface="Poppins"/>
                <a:cs typeface="Poppins"/>
                <a:sym typeface="Poppins"/>
              </a:rPr>
              <a:t>) to estimate cardiac risk levels.</a:t>
            </a:r>
          </a:p>
          <a:p>
            <a:pPr marL="0" lvl="0" indent="0" algn="l"/>
            <a:endParaRPr lang="en-US" sz="1300" dirty="0">
              <a:latin typeface="Poppins"/>
              <a:ea typeface="Poppins"/>
              <a:cs typeface="Poppins"/>
              <a:sym typeface="Poppins"/>
            </a:endParaRPr>
          </a:p>
          <a:p>
            <a:pPr marL="0" lvl="0" indent="0" algn="l"/>
            <a:r>
              <a:rPr lang="en-US" sz="1300" dirty="0">
                <a:latin typeface="Poppins"/>
                <a:ea typeface="Poppins"/>
                <a:cs typeface="Poppins"/>
                <a:sym typeface="Poppins"/>
              </a:rPr>
              <a:t>When an abnormal condition or elevated risk is detected, the user is first alerted through vibration and a phone notification; if there is no response, the system automatically notifies caregivers and emergency contacts with the user’s location and vital information. The objective is not to diagnose a disease but to reduce the delay between a cardiac event and human assistance, providing a continuous safety layer for individuals living alone or at higher cardiac risk.</a:t>
            </a:r>
            <a:endParaRPr sz="1300" dirty="0">
              <a:latin typeface="Poppins"/>
              <a:ea typeface="Poppins"/>
              <a:cs typeface="Poppins"/>
              <a:sym typeface="Poppins"/>
            </a:endParaRPr>
          </a:p>
        </p:txBody>
      </p:sp>
      <p:pic>
        <p:nvPicPr>
          <p:cNvPr id="65" name="Google Shape;65;p14"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66" name="Google Shape;66;p14"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Opportunities</a:t>
            </a:r>
            <a:endParaRPr sz="1620" b="1">
              <a:latin typeface="Poppins"/>
              <a:ea typeface="Poppins"/>
              <a:cs typeface="Poppins"/>
              <a:sym typeface="Poppins"/>
            </a:endParaRPr>
          </a:p>
        </p:txBody>
      </p:sp>
      <p:sp>
        <p:nvSpPr>
          <p:cNvPr id="72" name="Google Shape;72;p15"/>
          <p:cNvSpPr txBox="1">
            <a:spLocks noGrp="1"/>
          </p:cNvSpPr>
          <p:nvPr>
            <p:ph type="subTitle" idx="1"/>
          </p:nvPr>
        </p:nvSpPr>
        <p:spPr>
          <a:xfrm>
            <a:off x="311700" y="2192150"/>
            <a:ext cx="8520600" cy="2582400"/>
          </a:xfrm>
          <a:prstGeom prst="rect">
            <a:avLst/>
          </a:prstGeom>
        </p:spPr>
        <p:txBody>
          <a:bodyPr spcFirstLastPara="1" wrap="square" lIns="91425" tIns="91425" rIns="91425" bIns="91425" anchor="t" anchorCtr="0">
            <a:normAutofit fontScale="85000" lnSpcReduction="20000"/>
          </a:bodyPr>
          <a:lstStyle/>
          <a:p>
            <a:pPr marL="0" lvl="0" indent="0" algn="l"/>
            <a:r>
              <a:rPr lang="en-US" sz="1300" dirty="0">
                <a:latin typeface="Poppins"/>
                <a:ea typeface="Poppins"/>
                <a:cs typeface="Poppins"/>
                <a:sym typeface="Poppins"/>
              </a:rPr>
              <a:t>Unlike conventional wearables that rely primarily on optical heart rate monitoring, this solution uses real ECG waveform analysis (PQRST) combined with motion and oxygen saturation data for higher reliability. In addition, it integrates an AI-driven software layer that detects clinically significant ECG abnormalities and evaluates cardiac risk using a machine learning model. This combination of hardware-grade sensing and predictive analytics differentiates it from fitness-oriented devices and positions it closer to intelligent cardiac monitoring systems.</a:t>
            </a:r>
          </a:p>
          <a:p>
            <a:pPr marL="0" lvl="0" indent="0" algn="l"/>
            <a:endParaRPr lang="en-US" sz="1300" dirty="0">
              <a:latin typeface="Poppins"/>
              <a:ea typeface="Poppins"/>
              <a:cs typeface="Poppins"/>
              <a:sym typeface="Poppins"/>
            </a:endParaRPr>
          </a:p>
          <a:p>
            <a:pPr marL="0" lvl="0" indent="0" algn="l"/>
            <a:r>
              <a:rPr lang="en-US" sz="1300" dirty="0">
                <a:latin typeface="Poppins"/>
                <a:ea typeface="Poppins"/>
                <a:cs typeface="Poppins"/>
                <a:sym typeface="Poppins"/>
              </a:rPr>
              <a:t>Sudden cardiac events become life-threatening mainly due to delayed response. The system continuously monitors ECG signals, verifies abnormalities using multi-sensor validation, and applies AI-based risk assessment to reduce false alarms while improving detection accuracy. When a dangerous pattern or elevated risk is identified, the device alerts the user first and automatically escalates to caregivers with live location sharing if no response is received, thereby minimizing the delay between event onset and assistance.</a:t>
            </a:r>
          </a:p>
          <a:p>
            <a:pPr marL="0" lvl="0" indent="0" algn="l"/>
            <a:endParaRPr lang="en-US" sz="1300" dirty="0">
              <a:latin typeface="Poppins"/>
              <a:ea typeface="Poppins"/>
              <a:cs typeface="Poppins"/>
              <a:sym typeface="Poppins"/>
            </a:endParaRPr>
          </a:p>
          <a:p>
            <a:pPr marL="0" lvl="0" indent="0" algn="l"/>
            <a:r>
              <a:rPr lang="en-US" sz="1300" dirty="0">
                <a:latin typeface="Poppins"/>
                <a:ea typeface="Poppins"/>
                <a:cs typeface="Poppins"/>
                <a:sym typeface="Poppins"/>
              </a:rPr>
              <a:t>The unique strength of the solution lies in combining medical-grade ECG monitoring, multi-sensor verification, deep learning–based abnormality detection, and </a:t>
            </a:r>
            <a:r>
              <a:rPr lang="en-US" sz="1300" dirty="0" err="1">
                <a:latin typeface="Poppins"/>
                <a:ea typeface="Poppins"/>
                <a:cs typeface="Poppins"/>
                <a:sym typeface="Poppins"/>
              </a:rPr>
              <a:t>XGBoost</a:t>
            </a:r>
            <a:r>
              <a:rPr lang="en-US" sz="1300" dirty="0">
                <a:latin typeface="Poppins"/>
                <a:ea typeface="Poppins"/>
                <a:cs typeface="Poppins"/>
                <a:sym typeface="Poppins"/>
              </a:rPr>
              <a:t>-based predictive risk modeling within a wearable emergency response framework. Instead of merely recording health data, the system actively interprets it and converts it into immediate, actionable safety measures.</a:t>
            </a:r>
            <a:endParaRPr sz="1300" dirty="0">
              <a:latin typeface="Poppins"/>
              <a:ea typeface="Poppins"/>
              <a:cs typeface="Poppins"/>
              <a:sym typeface="Poppins"/>
            </a:endParaRPr>
          </a:p>
        </p:txBody>
      </p:sp>
      <p:sp>
        <p:nvSpPr>
          <p:cNvPr id="73" name="Google Shape;73;p15"/>
          <p:cNvSpPr txBox="1"/>
          <p:nvPr/>
        </p:nvSpPr>
        <p:spPr>
          <a:xfrm>
            <a:off x="311700" y="1192175"/>
            <a:ext cx="8520600" cy="8958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How different is it from any of the other existing ideas?</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How will it be able to solve the problem?</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USP of the proposed solution</a:t>
            </a:r>
            <a:endParaRPr/>
          </a:p>
        </p:txBody>
      </p:sp>
      <p:pic>
        <p:nvPicPr>
          <p:cNvPr id="74" name="Google Shape;74;p15"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75" name="Google Shape;75;p15"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List of features offered by the solution</a:t>
            </a:r>
            <a:endParaRPr sz="1620" b="1">
              <a:latin typeface="Poppins"/>
              <a:ea typeface="Poppins"/>
              <a:cs typeface="Poppins"/>
              <a:sym typeface="Poppins"/>
            </a:endParaRPr>
          </a:p>
        </p:txBody>
      </p:sp>
      <p:sp>
        <p:nvSpPr>
          <p:cNvPr id="81" name="Google Shape;81;p16"/>
          <p:cNvSpPr txBox="1">
            <a:spLocks noGrp="1"/>
          </p:cNvSpPr>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pPr marL="285750" lvl="0" indent="-285750" algn="l">
              <a:buFont typeface="Arial" panose="020B0604020202020204" pitchFamily="34" charset="0"/>
              <a:buChar char="•"/>
            </a:pPr>
            <a:r>
              <a:rPr lang="en-US" sz="1300" dirty="0">
                <a:latin typeface="Poppins"/>
                <a:ea typeface="Poppins"/>
                <a:cs typeface="Poppins"/>
                <a:sym typeface="Poppins"/>
              </a:rPr>
              <a:t>Continuous real-time ECG monitoring using PQRST waveform analysis.</a:t>
            </a:r>
          </a:p>
          <a:p>
            <a:pPr marL="285750" lvl="0" indent="-285750" algn="l">
              <a:buFont typeface="Arial" panose="020B0604020202020204" pitchFamily="34" charset="0"/>
              <a:buChar char="•"/>
            </a:pPr>
            <a:r>
              <a:rPr lang="en-US" sz="1300" dirty="0">
                <a:latin typeface="Poppins"/>
                <a:ea typeface="Poppins"/>
                <a:cs typeface="Poppins"/>
                <a:sym typeface="Poppins"/>
              </a:rPr>
              <a:t>Multi-sensor verification using motion detection and oxygen saturation (SpO₂) data.</a:t>
            </a:r>
          </a:p>
          <a:p>
            <a:pPr marL="285750" lvl="0" indent="-285750" algn="l">
              <a:buFont typeface="Arial" panose="020B0604020202020204" pitchFamily="34" charset="0"/>
              <a:buChar char="•"/>
            </a:pPr>
            <a:r>
              <a:rPr lang="en-US" sz="1300" dirty="0">
                <a:latin typeface="Poppins"/>
                <a:ea typeface="Poppins"/>
                <a:cs typeface="Poppins"/>
                <a:sym typeface="Poppins"/>
              </a:rPr>
              <a:t>Intelligent anomaly detection instead of simple heart-rate threshold alerts.</a:t>
            </a:r>
          </a:p>
          <a:p>
            <a:pPr marL="285750" lvl="0" indent="-285750" algn="l">
              <a:buFont typeface="Arial" panose="020B0604020202020204" pitchFamily="34" charset="0"/>
              <a:buChar char="•"/>
            </a:pPr>
            <a:r>
              <a:rPr lang="en-US" sz="1300" dirty="0">
                <a:latin typeface="Poppins"/>
                <a:ea typeface="Poppins"/>
                <a:cs typeface="Poppins"/>
                <a:sym typeface="Poppins"/>
              </a:rPr>
              <a:t>User warning through vibration and mobile notification before escalation.</a:t>
            </a:r>
          </a:p>
          <a:p>
            <a:pPr marL="285750" lvl="0" indent="-285750" algn="l">
              <a:buFont typeface="Arial" panose="020B0604020202020204" pitchFamily="34" charset="0"/>
              <a:buChar char="•"/>
            </a:pPr>
            <a:r>
              <a:rPr lang="en-US" sz="1300" dirty="0">
                <a:latin typeface="Poppins"/>
                <a:ea typeface="Poppins"/>
                <a:cs typeface="Poppins"/>
                <a:sym typeface="Poppins"/>
              </a:rPr>
              <a:t>Automatic SOS alert to caregivers and emergency contacts if no response is received.</a:t>
            </a:r>
          </a:p>
          <a:p>
            <a:pPr marL="285750" lvl="0" indent="-285750" algn="l">
              <a:buFont typeface="Arial" panose="020B0604020202020204" pitchFamily="34" charset="0"/>
              <a:buChar char="•"/>
            </a:pPr>
            <a:r>
              <a:rPr lang="en-US" sz="1300" dirty="0">
                <a:latin typeface="Poppins"/>
                <a:ea typeface="Poppins"/>
                <a:cs typeface="Poppins"/>
                <a:sym typeface="Poppins"/>
              </a:rPr>
              <a:t>Live location sharing during emergencies.</a:t>
            </a:r>
          </a:p>
          <a:p>
            <a:pPr marL="285750" lvl="0" indent="-285750" algn="l">
              <a:buFont typeface="Arial" panose="020B0604020202020204" pitchFamily="34" charset="0"/>
              <a:buChar char="•"/>
            </a:pPr>
            <a:r>
              <a:rPr lang="en-US" sz="1300" dirty="0">
                <a:latin typeface="Poppins"/>
                <a:ea typeface="Poppins"/>
                <a:cs typeface="Poppins"/>
                <a:sym typeface="Poppins"/>
              </a:rPr>
              <a:t>Event logging and history tracking through the mobile application.</a:t>
            </a:r>
          </a:p>
          <a:p>
            <a:pPr marL="285750" lvl="0" indent="-285750" algn="l">
              <a:buFont typeface="Arial" panose="020B0604020202020204" pitchFamily="34" charset="0"/>
              <a:buChar char="•"/>
            </a:pPr>
            <a:r>
              <a:rPr lang="en-US" sz="1300" dirty="0">
                <a:latin typeface="Poppins"/>
                <a:ea typeface="Poppins"/>
                <a:cs typeface="Poppins"/>
                <a:sym typeface="Poppins"/>
              </a:rPr>
              <a:t>Reduced false alarms through combined physiological and activity analysis.</a:t>
            </a:r>
          </a:p>
          <a:p>
            <a:pPr marL="285750" lvl="0" indent="-285750" algn="l">
              <a:buFont typeface="Arial" panose="020B0604020202020204" pitchFamily="34" charset="0"/>
              <a:buChar char="•"/>
            </a:pPr>
            <a:r>
              <a:rPr lang="en-US" sz="1300" dirty="0">
                <a:latin typeface="Poppins"/>
                <a:ea typeface="Poppins"/>
                <a:cs typeface="Poppins"/>
                <a:sym typeface="Poppins"/>
              </a:rPr>
              <a:t>Designed for daily wearable use and independent living safety.</a:t>
            </a:r>
          </a:p>
          <a:p>
            <a:pPr marL="285750" lvl="0" indent="-285750" algn="l">
              <a:buFont typeface="Arial" panose="020B0604020202020204" pitchFamily="34" charset="0"/>
              <a:buChar char="•"/>
            </a:pPr>
            <a:r>
              <a:rPr lang="en-US" sz="1300" dirty="0">
                <a:latin typeface="Poppins"/>
                <a:ea typeface="Poppins"/>
                <a:cs typeface="Poppins"/>
                <a:sym typeface="Poppins"/>
              </a:rPr>
              <a:t>Low-power operation with wireless Bluetooth connectivity to smartphone.</a:t>
            </a:r>
          </a:p>
          <a:p>
            <a:pPr marL="285750" lvl="0" indent="-285750" algn="l">
              <a:buFont typeface="Arial" panose="020B0604020202020204" pitchFamily="34" charset="0"/>
              <a:buChar char="•"/>
            </a:pPr>
            <a:r>
              <a:rPr lang="en-US" sz="1300" dirty="0">
                <a:latin typeface="Poppins"/>
                <a:ea typeface="Poppins"/>
                <a:cs typeface="Poppins"/>
                <a:sym typeface="Poppins"/>
              </a:rPr>
              <a:t>Multi-level emergency escalation alerts the user first, then caregivers, and if no acknowledgement is received, automatically sends an SOS message (with location and vital status) to nearby hospitals/emergency services.</a:t>
            </a:r>
          </a:p>
        </p:txBody>
      </p:sp>
      <p:pic>
        <p:nvPicPr>
          <p:cNvPr id="82" name="Google Shape;82;p16"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83" name="Google Shape;83;p16"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Process flow diagram or Use-case diagram</a:t>
            </a:r>
            <a:endParaRPr sz="1620" b="1">
              <a:latin typeface="Poppins"/>
              <a:ea typeface="Poppins"/>
              <a:cs typeface="Poppins"/>
              <a:sym typeface="Poppins"/>
            </a:endParaRPr>
          </a:p>
        </p:txBody>
      </p:sp>
      <p:sp>
        <p:nvSpPr>
          <p:cNvPr id="89" name="Google Shape;89;p17"/>
          <p:cNvSpPr txBox="1">
            <a:spLocks noGrp="1"/>
          </p:cNvSpPr>
          <p:nvPr>
            <p:ph type="subTitle" idx="1"/>
          </p:nvPr>
        </p:nvSpPr>
        <p:spPr>
          <a:xfrm>
            <a:off x="951036" y="2074127"/>
            <a:ext cx="7375207" cy="2098482"/>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sz="1300" dirty="0">
              <a:latin typeface="Poppins"/>
              <a:ea typeface="Poppins"/>
              <a:cs typeface="Poppins"/>
              <a:sym typeface="Poppins"/>
            </a:endParaRPr>
          </a:p>
        </p:txBody>
      </p:sp>
      <p:pic>
        <p:nvPicPr>
          <p:cNvPr id="90" name="Google Shape;90;p17"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91" name="Google Shape;91;p17"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pic>
        <p:nvPicPr>
          <p:cNvPr id="3" name="Picture 2">
            <a:extLst>
              <a:ext uri="{FF2B5EF4-FFF2-40B4-BE49-F238E27FC236}">
                <a16:creationId xmlns:a16="http://schemas.microsoft.com/office/drawing/2014/main" id="{C3977BE1-07F3-B0A4-5EB8-C8E79B7139A4}"/>
              </a:ext>
            </a:extLst>
          </p:cNvPr>
          <p:cNvPicPr>
            <a:picLocks noChangeAspect="1"/>
          </p:cNvPicPr>
          <p:nvPr/>
        </p:nvPicPr>
        <p:blipFill>
          <a:blip r:embed="rId5"/>
          <a:stretch>
            <a:fillRect/>
          </a:stretch>
        </p:blipFill>
        <p:spPr>
          <a:xfrm>
            <a:off x="0" y="1375227"/>
            <a:ext cx="9144000" cy="30499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Wireframes/Mock diagrams of the proposed solution (optional)</a:t>
            </a:r>
            <a:endParaRPr sz="1620" b="1">
              <a:latin typeface="Poppins"/>
              <a:ea typeface="Poppins"/>
              <a:cs typeface="Poppins"/>
              <a:sym typeface="Poppins"/>
            </a:endParaRPr>
          </a:p>
        </p:txBody>
      </p:sp>
      <p:sp>
        <p:nvSpPr>
          <p:cNvPr id="97" name="Google Shape;97;p18"/>
          <p:cNvSpPr txBox="1">
            <a:spLocks noGrp="1"/>
          </p:cNvSpPr>
          <p:nvPr>
            <p:ph type="subTitle" idx="1"/>
          </p:nvPr>
        </p:nvSpPr>
        <p:spPr>
          <a:xfrm>
            <a:off x="553577" y="1715737"/>
            <a:ext cx="8036846" cy="2611438"/>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300" dirty="0">
                <a:latin typeface="Poppins"/>
                <a:ea typeface="Poppins"/>
                <a:cs typeface="Poppins"/>
                <a:sym typeface="Poppins"/>
              </a:rPr>
              <a:t>Type here</a:t>
            </a:r>
            <a:endParaRPr sz="1300" dirty="0">
              <a:latin typeface="Poppins"/>
              <a:ea typeface="Poppins"/>
              <a:cs typeface="Poppins"/>
              <a:sym typeface="Poppins"/>
            </a:endParaRPr>
          </a:p>
        </p:txBody>
      </p:sp>
      <p:pic>
        <p:nvPicPr>
          <p:cNvPr id="98" name="Google Shape;98;p18"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99" name="Google Shape;99;p18"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pic>
        <p:nvPicPr>
          <p:cNvPr id="3" name="Picture 2">
            <a:extLst>
              <a:ext uri="{FF2B5EF4-FFF2-40B4-BE49-F238E27FC236}">
                <a16:creationId xmlns:a16="http://schemas.microsoft.com/office/drawing/2014/main" id="{FDC8A461-7DFB-FEF8-FAF8-A5EA5FAA77E1}"/>
              </a:ext>
            </a:extLst>
          </p:cNvPr>
          <p:cNvPicPr>
            <a:picLocks noChangeAspect="1"/>
          </p:cNvPicPr>
          <p:nvPr/>
        </p:nvPicPr>
        <p:blipFill>
          <a:blip r:embed="rId5"/>
          <a:stretch>
            <a:fillRect/>
          </a:stretch>
        </p:blipFill>
        <p:spPr>
          <a:xfrm>
            <a:off x="0" y="1365402"/>
            <a:ext cx="9144000" cy="32214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Architecture diagram of the proposed solution</a:t>
            </a:r>
            <a:endParaRPr sz="1620" b="1">
              <a:latin typeface="Poppins"/>
              <a:ea typeface="Poppins"/>
              <a:cs typeface="Poppins"/>
              <a:sym typeface="Poppins"/>
            </a:endParaRPr>
          </a:p>
        </p:txBody>
      </p:sp>
      <p:sp>
        <p:nvSpPr>
          <p:cNvPr id="105" name="Google Shape;105;p19"/>
          <p:cNvSpPr txBox="1">
            <a:spLocks noGrp="1"/>
          </p:cNvSpPr>
          <p:nvPr>
            <p:ph type="subTitle" idx="1"/>
          </p:nvPr>
        </p:nvSpPr>
        <p:spPr>
          <a:xfrm>
            <a:off x="1308142" y="1613210"/>
            <a:ext cx="6527715" cy="2485058"/>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300" dirty="0">
                <a:latin typeface="Poppins"/>
                <a:ea typeface="Poppins"/>
                <a:cs typeface="Poppins"/>
                <a:sym typeface="Poppins"/>
              </a:rPr>
              <a:t>Type here</a:t>
            </a:r>
            <a:endParaRPr sz="1300" dirty="0">
              <a:latin typeface="Poppins"/>
              <a:ea typeface="Poppins"/>
              <a:cs typeface="Poppins"/>
              <a:sym typeface="Poppins"/>
            </a:endParaRPr>
          </a:p>
        </p:txBody>
      </p:sp>
      <p:pic>
        <p:nvPicPr>
          <p:cNvPr id="106" name="Google Shape;106;p19"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07" name="Google Shape;107;p19"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pic>
        <p:nvPicPr>
          <p:cNvPr id="5" name="Picture 4">
            <a:extLst>
              <a:ext uri="{FF2B5EF4-FFF2-40B4-BE49-F238E27FC236}">
                <a16:creationId xmlns:a16="http://schemas.microsoft.com/office/drawing/2014/main" id="{6B308195-4216-1070-EAB0-5CE454C62F4A}"/>
              </a:ext>
            </a:extLst>
          </p:cNvPr>
          <p:cNvPicPr>
            <a:picLocks noChangeAspect="1"/>
          </p:cNvPicPr>
          <p:nvPr/>
        </p:nvPicPr>
        <p:blipFill>
          <a:blip r:embed="rId5"/>
          <a:stretch>
            <a:fillRect/>
          </a:stretch>
        </p:blipFill>
        <p:spPr>
          <a:xfrm>
            <a:off x="0" y="1375226"/>
            <a:ext cx="9144000" cy="272304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Technologies to be used in the solution</a:t>
            </a:r>
            <a:endParaRPr sz="1620" b="1">
              <a:latin typeface="Poppins"/>
              <a:ea typeface="Poppins"/>
              <a:cs typeface="Poppins"/>
              <a:sym typeface="Poppins"/>
            </a:endParaRPr>
          </a:p>
        </p:txBody>
      </p:sp>
      <p:sp>
        <p:nvSpPr>
          <p:cNvPr id="113" name="Google Shape;113;p20"/>
          <p:cNvSpPr txBox="1">
            <a:spLocks noGrp="1"/>
          </p:cNvSpPr>
          <p:nvPr>
            <p:ph type="subTitle" idx="1"/>
          </p:nvPr>
        </p:nvSpPr>
        <p:spPr>
          <a:xfrm>
            <a:off x="311700" y="1249775"/>
            <a:ext cx="8520600" cy="3525000"/>
          </a:xfrm>
          <a:prstGeom prst="rect">
            <a:avLst/>
          </a:prstGeom>
        </p:spPr>
        <p:txBody>
          <a:bodyPr spcFirstLastPara="1" wrap="square" lIns="91425" tIns="91425" rIns="91425" bIns="91425" anchor="t" anchorCtr="0">
            <a:normAutofit fontScale="92500" lnSpcReduction="10000"/>
          </a:bodyPr>
          <a:lstStyle/>
          <a:p>
            <a:pPr algn="just"/>
            <a:r>
              <a:rPr lang="en-IN" sz="1400" b="1" dirty="0">
                <a:latin typeface="Poppins" panose="00000500000000000000" pitchFamily="2" charset="0"/>
                <a:cs typeface="Poppins" panose="00000500000000000000" pitchFamily="2" charset="0"/>
              </a:rPr>
              <a:t>Hardware Technologies</a:t>
            </a:r>
            <a:r>
              <a:rPr lang="en-IN" sz="1400" dirty="0">
                <a:latin typeface="Poppins" panose="00000500000000000000" pitchFamily="2" charset="0"/>
                <a:cs typeface="Poppins" panose="00000500000000000000" pitchFamily="2" charset="0"/>
              </a:rPr>
              <a:t> – nRF52840 microcontroller with Bluetooth Low Energy (BLE) communication, ADS1292R </a:t>
            </a:r>
            <a:r>
              <a:rPr lang="en-IN" sz="1400" dirty="0" err="1">
                <a:latin typeface="Poppins" panose="00000500000000000000" pitchFamily="2" charset="0"/>
                <a:cs typeface="Poppins" panose="00000500000000000000" pitchFamily="2" charset="0"/>
              </a:rPr>
              <a:t>analog</a:t>
            </a:r>
            <a:r>
              <a:rPr lang="en-IN" sz="1400" dirty="0">
                <a:latin typeface="Poppins" panose="00000500000000000000" pitchFamily="2" charset="0"/>
                <a:cs typeface="Poppins" panose="00000500000000000000" pitchFamily="2" charset="0"/>
              </a:rPr>
              <a:t> front end for ECG signal acquisition (PQRST waveform), MAX30102 sensor for SpO₂ and pulse monitoring, IMU motion sensor for activity and fall detection, rechargeable Li-Po battery based wearable embedded system.</a:t>
            </a:r>
          </a:p>
          <a:p>
            <a:pPr algn="just"/>
            <a:r>
              <a:rPr lang="en-IN" sz="1400" b="1" dirty="0">
                <a:latin typeface="Poppins" panose="00000500000000000000" pitchFamily="2" charset="0"/>
                <a:cs typeface="Poppins" panose="00000500000000000000" pitchFamily="2" charset="0"/>
              </a:rPr>
              <a:t>Embedded &amp; Signal Processing</a:t>
            </a:r>
            <a:r>
              <a:rPr lang="en-IN" sz="1400" dirty="0">
                <a:latin typeface="Poppins" panose="00000500000000000000" pitchFamily="2" charset="0"/>
                <a:cs typeface="Poppins" panose="00000500000000000000" pitchFamily="2" charset="0"/>
              </a:rPr>
              <a:t> – Real-time ECG signal filtering and PQRST peak detection, anomaly detection algorithms for cardiac irregularities, multi-sensor data fusion (ECG + motion + oxygen level), signal preprocessing and feature extraction pipeline.</a:t>
            </a:r>
          </a:p>
          <a:p>
            <a:pPr algn="just"/>
            <a:r>
              <a:rPr lang="en-IN" sz="1400" b="1" dirty="0">
                <a:latin typeface="Poppins" panose="00000500000000000000" pitchFamily="2" charset="0"/>
                <a:cs typeface="Poppins" panose="00000500000000000000" pitchFamily="2" charset="0"/>
              </a:rPr>
              <a:t>Communication &amp; Connectivity</a:t>
            </a:r>
            <a:r>
              <a:rPr lang="en-IN" sz="1400" dirty="0">
                <a:latin typeface="Poppins" panose="00000500000000000000" pitchFamily="2" charset="0"/>
                <a:cs typeface="Poppins" panose="00000500000000000000" pitchFamily="2" charset="0"/>
              </a:rPr>
              <a:t> – Bluetooth Low Energy (BLE) communication between wearable and smartphone, GPS/location sharing via mobile device, automatic SOS alert messaging system, secure cloud synchronization.</a:t>
            </a:r>
          </a:p>
          <a:p>
            <a:pPr algn="just"/>
            <a:r>
              <a:rPr lang="en-IN" sz="1400" b="1" dirty="0">
                <a:latin typeface="Poppins" panose="00000500000000000000" pitchFamily="2" charset="0"/>
                <a:cs typeface="Poppins" panose="00000500000000000000" pitchFamily="2" charset="0"/>
              </a:rPr>
              <a:t>Software &amp; Application</a:t>
            </a:r>
            <a:r>
              <a:rPr lang="en-IN" sz="1400" dirty="0">
                <a:latin typeface="Poppins" panose="00000500000000000000" pitchFamily="2" charset="0"/>
                <a:cs typeface="Poppins" panose="00000500000000000000" pitchFamily="2" charset="0"/>
              </a:rPr>
              <a:t> – ML model which is trained on 55 different parameters. Mobile application for real-time monitoring and notifications, YOLO-based deep learning model for ECG abnormality detection (T inversion, ST depression, ST elevation, Pathologic Q wave, Left ventricular hypertrophy, Poor R progression), </a:t>
            </a:r>
            <a:r>
              <a:rPr lang="en-IN" sz="1400" dirty="0" err="1">
                <a:latin typeface="Poppins" panose="00000500000000000000" pitchFamily="2" charset="0"/>
                <a:cs typeface="Poppins" panose="00000500000000000000" pitchFamily="2" charset="0"/>
              </a:rPr>
              <a:t>XGBoost</a:t>
            </a:r>
            <a:r>
              <a:rPr lang="en-IN" sz="1400" dirty="0">
                <a:latin typeface="Poppins" panose="00000500000000000000" pitchFamily="2" charset="0"/>
                <a:cs typeface="Poppins" panose="00000500000000000000" pitchFamily="2" charset="0"/>
              </a:rPr>
              <a:t>-based predictive model for cardiac risk estimation using structured ECG and physiological features, AI-driven risk scoring and decision engine, cloud database/server for storing events and medical data, emergency alert system to notify caregivers and nearby hospital services.</a:t>
            </a:r>
          </a:p>
        </p:txBody>
      </p:sp>
      <p:pic>
        <p:nvPicPr>
          <p:cNvPr id="114" name="Google Shape;114;p20"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15" name="Google Shape;115;p20"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Usage of AMD Products/Solutions</a:t>
            </a:r>
            <a:endParaRPr sz="1620" b="1">
              <a:latin typeface="Poppins"/>
              <a:ea typeface="Poppins"/>
              <a:cs typeface="Poppins"/>
              <a:sym typeface="Poppins"/>
            </a:endParaRPr>
          </a:p>
        </p:txBody>
      </p:sp>
      <p:sp>
        <p:nvSpPr>
          <p:cNvPr id="121" name="Google Shape;121;p21"/>
          <p:cNvSpPr txBox="1">
            <a:spLocks noGrp="1"/>
          </p:cNvSpPr>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pPr marL="285750" lvl="0" indent="-285750" algn="l">
              <a:buFont typeface="Arial" panose="020B0604020202020204" pitchFamily="34" charset="0"/>
              <a:buChar char="•"/>
            </a:pPr>
            <a:r>
              <a:rPr lang="en-US" sz="1300" dirty="0">
                <a:latin typeface="Poppins"/>
                <a:ea typeface="Poppins"/>
                <a:cs typeface="Poppins"/>
                <a:sym typeface="Poppins"/>
              </a:rPr>
              <a:t>The wearable device continuously streams physiological data (ECG waveform, motion, and SpO₂) to a mobile application and cloud platform for analysis. </a:t>
            </a:r>
          </a:p>
          <a:p>
            <a:pPr marL="285750" lvl="0" indent="-285750" algn="l">
              <a:buFont typeface="Arial" panose="020B0604020202020204" pitchFamily="34" charset="0"/>
              <a:buChar char="•"/>
            </a:pPr>
            <a:r>
              <a:rPr lang="en-US" sz="1300" dirty="0">
                <a:latin typeface="Poppins"/>
                <a:ea typeface="Poppins"/>
                <a:cs typeface="Poppins"/>
                <a:sym typeface="Poppins"/>
              </a:rPr>
              <a:t>AMD CPU/GPU based systems can be used on the server side to process large volumes of ECG signals and run machine-learning models for detecting abnormal cardiac patterns and improving anomaly detection accuracy.</a:t>
            </a:r>
          </a:p>
          <a:p>
            <a:pPr marL="285750" lvl="0" indent="-285750" algn="l">
              <a:buFont typeface="Arial" panose="020B0604020202020204" pitchFamily="34" charset="0"/>
              <a:buChar char="•"/>
            </a:pPr>
            <a:r>
              <a:rPr lang="en-US" sz="1300" dirty="0">
                <a:latin typeface="Poppins"/>
                <a:ea typeface="Poppins"/>
                <a:cs typeface="Poppins"/>
                <a:sym typeface="Poppins"/>
              </a:rPr>
              <a:t>The system can utilize AMD-powered edge or cloud computing to perform real-time signal filtering, pattern recognition, and predictive health risk analysis.</a:t>
            </a:r>
          </a:p>
          <a:p>
            <a:pPr marL="285750" lvl="0" indent="-285750" algn="l">
              <a:buFont typeface="Arial" panose="020B0604020202020204" pitchFamily="34" charset="0"/>
              <a:buChar char="•"/>
            </a:pPr>
            <a:r>
              <a:rPr lang="en-US" sz="1300" dirty="0">
                <a:latin typeface="Poppins"/>
                <a:ea typeface="Poppins"/>
                <a:cs typeface="Poppins"/>
                <a:sym typeface="Poppins"/>
              </a:rPr>
              <a:t>AMD hardware acceleration can enable faster processing of biomedical data, reducing response time between detection and emergency alert generation.</a:t>
            </a:r>
          </a:p>
          <a:p>
            <a:pPr marL="285750" lvl="0" indent="-285750" algn="l">
              <a:buFont typeface="Arial" panose="020B0604020202020204" pitchFamily="34" charset="0"/>
              <a:buChar char="•"/>
            </a:pPr>
            <a:r>
              <a:rPr lang="en-US" sz="1300" dirty="0">
                <a:latin typeface="Poppins"/>
                <a:ea typeface="Poppins"/>
                <a:cs typeface="Poppins"/>
                <a:sym typeface="Poppins"/>
              </a:rPr>
              <a:t>Future versions of the solution can deploy AI models trained on AMD computing platforms to improve reliability and reduce false alarms</a:t>
            </a:r>
            <a:endParaRPr sz="1300" dirty="0">
              <a:latin typeface="Poppins"/>
              <a:ea typeface="Poppins"/>
              <a:cs typeface="Poppins"/>
              <a:sym typeface="Poppins"/>
            </a:endParaRPr>
          </a:p>
        </p:txBody>
      </p:sp>
      <p:pic>
        <p:nvPicPr>
          <p:cNvPr id="122" name="Google Shape;122;p21"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23" name="Google Shape;123;p21"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2"/>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Estimated implementation cost (optional)</a:t>
            </a:r>
            <a:endParaRPr sz="1620" b="1">
              <a:latin typeface="Poppins"/>
              <a:ea typeface="Poppins"/>
              <a:cs typeface="Poppins"/>
              <a:sym typeface="Poppins"/>
            </a:endParaRPr>
          </a:p>
        </p:txBody>
      </p:sp>
      <p:sp>
        <p:nvSpPr>
          <p:cNvPr id="129" name="Google Shape;129;p22"/>
          <p:cNvSpPr txBox="1">
            <a:spLocks noGrp="1"/>
          </p:cNvSpPr>
          <p:nvPr>
            <p:ph type="subTitle" idx="1"/>
          </p:nvPr>
        </p:nvSpPr>
        <p:spPr>
          <a:xfrm>
            <a:off x="311700" y="1249775"/>
            <a:ext cx="8520600" cy="3525000"/>
          </a:xfrm>
          <a:prstGeom prst="rect">
            <a:avLst/>
          </a:prstGeom>
        </p:spPr>
        <p:txBody>
          <a:bodyPr spcFirstLastPara="1" wrap="square" lIns="91425" tIns="91425" rIns="91425" bIns="91425" anchor="t" anchorCtr="0">
            <a:normAutofit/>
          </a:bodyPr>
          <a:lstStyle/>
          <a:p>
            <a:pPr marL="0" lvl="0" indent="0" algn="l"/>
            <a:r>
              <a:rPr lang="en-IN" sz="1300" dirty="0">
                <a:latin typeface="Poppins"/>
                <a:ea typeface="Poppins"/>
                <a:cs typeface="Poppins"/>
                <a:sym typeface="Poppins"/>
              </a:rPr>
              <a:t>Estimated Implementation Cost (Prototype):</a:t>
            </a:r>
          </a:p>
          <a:p>
            <a:pPr marL="0" lvl="0" indent="0" algn="l"/>
            <a:r>
              <a:rPr lang="en-IN" sz="1300" dirty="0">
                <a:latin typeface="Poppins"/>
                <a:ea typeface="Poppins"/>
                <a:cs typeface="Poppins"/>
                <a:sym typeface="Poppins"/>
              </a:rPr>
              <a:t>Hardware Components:</a:t>
            </a:r>
          </a:p>
          <a:p>
            <a:pPr marL="0" lvl="0" indent="0" algn="l"/>
            <a:r>
              <a:rPr lang="en-IN" sz="1300" dirty="0">
                <a:latin typeface="Poppins"/>
                <a:ea typeface="Poppins"/>
                <a:cs typeface="Poppins"/>
                <a:sym typeface="Poppins"/>
              </a:rPr>
              <a:t>nRF52840 BLE microcontroller module – ₹2,500</a:t>
            </a:r>
          </a:p>
          <a:p>
            <a:pPr marL="0" lvl="0" indent="0" algn="l"/>
            <a:r>
              <a:rPr lang="en-IN" sz="1300" dirty="0">
                <a:latin typeface="Poppins"/>
                <a:ea typeface="Poppins"/>
                <a:cs typeface="Poppins"/>
                <a:sym typeface="Poppins"/>
              </a:rPr>
              <a:t>ADS1292R ECG front-end sensor – ₹1,400</a:t>
            </a:r>
          </a:p>
          <a:p>
            <a:pPr marL="0" lvl="0" indent="0" algn="l"/>
            <a:r>
              <a:rPr lang="en-IN" sz="1300" dirty="0">
                <a:latin typeface="Poppins"/>
                <a:ea typeface="Poppins"/>
                <a:cs typeface="Poppins"/>
                <a:sym typeface="Poppins"/>
              </a:rPr>
              <a:t>MAX30102 SpO₂ sensor – ₹250 </a:t>
            </a:r>
          </a:p>
          <a:p>
            <a:pPr marL="0" lvl="0" indent="0" algn="l"/>
            <a:r>
              <a:rPr lang="en-IN" sz="1300" dirty="0">
                <a:latin typeface="Poppins"/>
                <a:ea typeface="Poppins"/>
                <a:cs typeface="Poppins"/>
                <a:sym typeface="Poppins"/>
              </a:rPr>
              <a:t>IMU motion sensor – ₹300</a:t>
            </a:r>
          </a:p>
          <a:p>
            <a:pPr marL="0" lvl="0" indent="0" algn="l"/>
            <a:r>
              <a:rPr lang="en-IN" sz="1300" dirty="0">
                <a:latin typeface="Poppins"/>
                <a:ea typeface="Poppins"/>
                <a:cs typeface="Poppins"/>
                <a:sym typeface="Poppins"/>
              </a:rPr>
              <a:t>Textile ECG electrodes &amp; leads – ₹300</a:t>
            </a:r>
          </a:p>
          <a:p>
            <a:pPr marL="0" lvl="0" indent="0" algn="l"/>
            <a:r>
              <a:rPr lang="en-IN" sz="1300" dirty="0">
                <a:latin typeface="Poppins"/>
                <a:ea typeface="Poppins"/>
                <a:cs typeface="Poppins"/>
                <a:sym typeface="Poppins"/>
              </a:rPr>
              <a:t>Vibration motor &amp; buzzer – ₹200</a:t>
            </a:r>
          </a:p>
          <a:p>
            <a:pPr marL="0" lvl="0" indent="0" algn="l"/>
            <a:r>
              <a:rPr lang="en-IN" sz="1300" dirty="0">
                <a:latin typeface="Poppins"/>
                <a:ea typeface="Poppins"/>
                <a:cs typeface="Poppins"/>
                <a:sym typeface="Poppins"/>
              </a:rPr>
              <a:t>Li-Po battery + charging module – ₹400</a:t>
            </a:r>
          </a:p>
          <a:p>
            <a:pPr marL="0" lvl="0" indent="0" algn="l"/>
            <a:r>
              <a:rPr lang="en-IN" sz="1300" dirty="0">
                <a:latin typeface="Poppins"/>
                <a:ea typeface="Poppins"/>
                <a:cs typeface="Poppins"/>
                <a:sym typeface="Poppins"/>
              </a:rPr>
              <a:t>PCB fabrication &amp; miscellaneous components (resistors, connectors, casing) – ₹1,000</a:t>
            </a:r>
          </a:p>
          <a:p>
            <a:pPr marL="0" lvl="0" indent="0" algn="l"/>
            <a:r>
              <a:rPr lang="en-IN" sz="1300" dirty="0">
                <a:latin typeface="Poppins"/>
                <a:ea typeface="Poppins"/>
                <a:cs typeface="Poppins"/>
                <a:sym typeface="Poppins"/>
              </a:rPr>
              <a:t>Total Estimated Prototype Cost: ~ ₹6,000 – ₹6,500 per device</a:t>
            </a:r>
          </a:p>
          <a:p>
            <a:pPr marL="0" lvl="0" indent="0" algn="l"/>
            <a:endParaRPr lang="en-IN" sz="1300" dirty="0">
              <a:latin typeface="Poppins"/>
              <a:ea typeface="Poppins"/>
              <a:cs typeface="Poppins"/>
              <a:sym typeface="Poppins"/>
            </a:endParaRPr>
          </a:p>
          <a:p>
            <a:pPr marL="0" lvl="0" indent="0" algn="l"/>
            <a:r>
              <a:rPr lang="en-US" sz="1300" dirty="0">
                <a:latin typeface="Poppins"/>
                <a:ea typeface="Poppins"/>
                <a:cs typeface="Poppins"/>
                <a:sym typeface="Poppins"/>
              </a:rPr>
              <a:t>In mass production, cost is expected to reduce to ₹2,500–₹3,000 per unit due to bulk PCB manufacturing and integrated modules.</a:t>
            </a:r>
          </a:p>
          <a:p>
            <a:pPr marL="0" lvl="0" indent="0" algn="l"/>
            <a:r>
              <a:rPr lang="en-US" sz="1300" dirty="0">
                <a:latin typeface="Poppins"/>
                <a:ea typeface="Poppins"/>
                <a:cs typeface="Poppins"/>
                <a:sym typeface="Poppins"/>
              </a:rPr>
              <a:t>Software and cloud services will be shared infrastructure and not per-device hardware cost.</a:t>
            </a:r>
            <a:endParaRPr sz="1300" dirty="0">
              <a:latin typeface="Poppins"/>
              <a:ea typeface="Poppins"/>
              <a:cs typeface="Poppins"/>
              <a:sym typeface="Poppins"/>
            </a:endParaRPr>
          </a:p>
        </p:txBody>
      </p:sp>
      <p:pic>
        <p:nvPicPr>
          <p:cNvPr id="130" name="Google Shape;130;p22"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31" name="Google Shape;131;p22"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3"/>
          <p:cNvSpPr txBox="1">
            <a:spLocks noGrp="1"/>
          </p:cNvSpPr>
          <p:nvPr>
            <p:ph type="subTitle" idx="1"/>
          </p:nvPr>
        </p:nvSpPr>
        <p:spPr>
          <a:xfrm>
            <a:off x="311700" y="1926000"/>
            <a:ext cx="8520600" cy="2848800"/>
          </a:xfrm>
          <a:prstGeom prst="rect">
            <a:avLst/>
          </a:prstGeom>
        </p:spPr>
        <p:txBody>
          <a:bodyPr spcFirstLastPara="1" wrap="square" lIns="91425" tIns="91425" rIns="91425" bIns="91425" anchor="t" anchorCtr="0">
            <a:normAutofit/>
          </a:bodyPr>
          <a:lstStyle/>
          <a:p>
            <a:pPr marL="0" lvl="0" indent="0" algn="l"/>
            <a:r>
              <a:rPr lang="en-IN" sz="1300" dirty="0">
                <a:latin typeface="Poppins"/>
                <a:ea typeface="Poppins"/>
                <a:cs typeface="Poppins"/>
                <a:sym typeface="Poppins"/>
              </a:rPr>
              <a:t>https://github.com/bhav1010/Cardionyx</a:t>
            </a:r>
            <a:endParaRPr sz="1300" dirty="0">
              <a:latin typeface="Poppins"/>
              <a:ea typeface="Poppins"/>
              <a:cs typeface="Poppins"/>
              <a:sym typeface="Poppins"/>
            </a:endParaRPr>
          </a:p>
        </p:txBody>
      </p:sp>
      <p:sp>
        <p:nvSpPr>
          <p:cNvPr id="137" name="Google Shape;137;p23"/>
          <p:cNvSpPr txBox="1">
            <a:spLocks noGrp="1"/>
          </p:cNvSpPr>
          <p:nvPr>
            <p:ph type="ctrTitle"/>
          </p:nvPr>
        </p:nvSpPr>
        <p:spPr>
          <a:xfrm>
            <a:off x="311700" y="744575"/>
            <a:ext cx="8520600" cy="447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SzPts val="990"/>
              <a:buNone/>
            </a:pPr>
            <a:r>
              <a:rPr lang="en-GB" sz="1620" b="1">
                <a:latin typeface="Poppins"/>
                <a:ea typeface="Poppins"/>
                <a:cs typeface="Poppins"/>
                <a:sym typeface="Poppins"/>
              </a:rPr>
              <a:t>Prototype Assets (Optional)</a:t>
            </a:r>
            <a:endParaRPr sz="1620" b="1">
              <a:latin typeface="Poppins"/>
              <a:ea typeface="Poppins"/>
              <a:cs typeface="Poppins"/>
              <a:sym typeface="Poppins"/>
            </a:endParaRPr>
          </a:p>
        </p:txBody>
      </p:sp>
      <p:sp>
        <p:nvSpPr>
          <p:cNvPr id="138" name="Google Shape;138;p23"/>
          <p:cNvSpPr txBox="1"/>
          <p:nvPr/>
        </p:nvSpPr>
        <p:spPr>
          <a:xfrm>
            <a:off x="311700" y="1192175"/>
            <a:ext cx="8520600" cy="6480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GitHub Public Repository Link</a:t>
            </a: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GB">
                <a:solidFill>
                  <a:schemeClr val="dk1"/>
                </a:solidFill>
                <a:latin typeface="Poppins"/>
                <a:ea typeface="Poppins"/>
                <a:cs typeface="Poppins"/>
                <a:sym typeface="Poppins"/>
              </a:rPr>
              <a:t>Demo Video Link (Max: 3 Minutes)</a:t>
            </a:r>
            <a:endParaRPr/>
          </a:p>
        </p:txBody>
      </p:sp>
      <p:pic>
        <p:nvPicPr>
          <p:cNvPr id="139" name="Google Shape;139;p23" title="AMD.PS.S22.png"/>
          <p:cNvPicPr preferRelativeResize="0"/>
          <p:nvPr/>
        </p:nvPicPr>
        <p:blipFill rotWithShape="1">
          <a:blip r:embed="rId3">
            <a:alphaModFix/>
          </a:blip>
          <a:srcRect b="89082"/>
          <a:stretch/>
        </p:blipFill>
        <p:spPr>
          <a:xfrm>
            <a:off x="0" y="0"/>
            <a:ext cx="9144000" cy="561524"/>
          </a:xfrm>
          <a:prstGeom prst="rect">
            <a:avLst/>
          </a:prstGeom>
          <a:noFill/>
          <a:ln>
            <a:noFill/>
          </a:ln>
        </p:spPr>
      </p:pic>
      <p:pic>
        <p:nvPicPr>
          <p:cNvPr id="140" name="Google Shape;140;p23" title="AMD.PS.S11.png"/>
          <p:cNvPicPr preferRelativeResize="0"/>
          <p:nvPr/>
        </p:nvPicPr>
        <p:blipFill rotWithShape="1">
          <a:blip r:embed="rId4">
            <a:alphaModFix/>
          </a:blip>
          <a:srcRect t="98295"/>
          <a:stretch/>
        </p:blipFill>
        <p:spPr>
          <a:xfrm>
            <a:off x="0" y="5055825"/>
            <a:ext cx="9144000" cy="876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66" name="Google Shape;166;p27"/>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67" name="Google Shape;167;p27" title="AMD.PS.S33.png"/>
          <p:cNvPicPr preferRelativeResize="0"/>
          <p:nvPr/>
        </p:nvPicPr>
        <p:blipFill rotWithShape="1">
          <a:blip r:embed="rId3">
            <a:alphaModFix/>
          </a:blip>
          <a:src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1231</Words>
  <Application>Microsoft Office PowerPoint</Application>
  <PresentationFormat>On-screen Show (16:9)</PresentationFormat>
  <Paragraphs>66</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Poppins</vt:lpstr>
      <vt:lpstr>Simple Light</vt:lpstr>
      <vt:lpstr>PowerPoint Presentation</vt:lpstr>
      <vt:lpstr>Brief about the idea</vt:lpstr>
      <vt:lpstr>Opportunities</vt:lpstr>
      <vt:lpstr>List of features offered by the solution</vt:lpstr>
      <vt:lpstr>Process flow diagram or Use-case diagram</vt:lpstr>
      <vt:lpstr>Wireframes/Mock diagrams of the proposed solution (optional)</vt:lpstr>
      <vt:lpstr>Architecture diagram of the proposed solution</vt:lpstr>
      <vt:lpstr>Technologies to be used in the solution</vt:lpstr>
      <vt:lpstr>Usage of AMD Products/Solutions</vt:lpstr>
      <vt:lpstr>Estimated implementation cost (optional)</vt:lpstr>
      <vt:lpstr>Prototype Assets (Optional)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Sambhav Jha</dc:creator>
  <cp:lastModifiedBy>GAGAN SINGH (RA2311003011246)</cp:lastModifiedBy>
  <cp:revision>4</cp:revision>
  <dcterms:modified xsi:type="dcterms:W3CDTF">2026-03-01T10:23:34Z</dcterms:modified>
</cp:coreProperties>
</file>